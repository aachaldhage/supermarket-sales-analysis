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Crimson Pro SemiBold"/>
      <p:regular r:id="rId201314"/>
    </p:embeddedFont>
    <p:embeddedFont>
      <p:font typeface="Heebo"/>
      <p:regular r:id="rId201315"/>
    </p:embeddedFont>
    <p:embeddedFont>
      <p:font typeface="Heebo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1.png"/><Relationship Id="rId10" Type="http://schemas.openxmlformats.org/officeDocument/2006/relationships/image" Target="../media/image-6-2.sv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1.png"/><Relationship Id="rId4" Type="http://schemas.openxmlformats.org/officeDocument/2006/relationships/image" Target="../media/image-11-2.svg"/><Relationship Id="rId5" Type="http://schemas.openxmlformats.org/officeDocument/2006/relationships/image" Target="../media/image-11-1.png"/><Relationship Id="rId6" Type="http://schemas.openxmlformats.org/officeDocument/2006/relationships/image" Target="../media/image-11-2.svg"/><Relationship Id="rId7" Type="http://schemas.openxmlformats.org/officeDocument/2006/relationships/image" Target="../media/image-11-1.png"/><Relationship Id="rId8" Type="http://schemas.openxmlformats.org/officeDocument/2006/relationships/image" Target="../media/image-11-2.svg"/><Relationship Id="rId9" Type="http://schemas.openxmlformats.org/officeDocument/2006/relationships/image" Target="../media/image-11-1.png"/><Relationship Id="rId10" Type="http://schemas.openxmlformats.org/officeDocument/2006/relationships/image" Target="../media/image-11-2.sv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1.png"/><Relationship Id="rId4" Type="http://schemas.openxmlformats.org/officeDocument/2006/relationships/image" Target="../media/image-12-2.svg"/><Relationship Id="rId5" Type="http://schemas.openxmlformats.org/officeDocument/2006/relationships/image" Target="../media/image-12-1.png"/><Relationship Id="rId6" Type="http://schemas.openxmlformats.org/officeDocument/2006/relationships/image" Target="../media/image-12-2.svg"/><Relationship Id="rId7" Type="http://schemas.openxmlformats.org/officeDocument/2006/relationships/image" Target="../media/image-12-1.png"/><Relationship Id="rId8" Type="http://schemas.openxmlformats.org/officeDocument/2006/relationships/image" Target="../media/image-12-2.svg"/><Relationship Id="rId9" Type="http://schemas.openxmlformats.org/officeDocument/2006/relationships/image" Target="../media/image-12-1.png"/><Relationship Id="rId10" Type="http://schemas.openxmlformats.org/officeDocument/2006/relationships/image" Target="../media/image-12-2.svg"/><Relationship Id="rId11" Type="http://schemas.openxmlformats.org/officeDocument/2006/relationships/image" Target="../media/image-12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4.png"/><Relationship Id="rId5" Type="http://schemas.openxmlformats.org/officeDocument/2006/relationships/image" Target="../media/image-14-5.sv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18034"/>
            <a:ext cx="1835303" cy="251420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1467644"/>
            <a:ext cx="224645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ANALYTICS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73553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Supermarket Sales Analysis &amp; Business Intelligence Dashboard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356682" y="250031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Turning raw supermarket transaction data into actionable business intelligence through analysis, visualization, and dashboarding.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992239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2415" y="3238599"/>
            <a:ext cx="5470785" cy="2201366"/>
          </a:xfrm>
          <a:prstGeom prst="roundRect">
            <a:avLst>
              <a:gd name="adj" fmla="val 1127"/>
            </a:avLst>
          </a:prstGeom>
          <a:solidFill>
            <a:srgbClr val="003D7A"/>
          </a:solidFill>
          <a:ln/>
        </p:spPr>
      </p:sp>
      <p:sp>
        <p:nvSpPr>
          <p:cNvPr id="8" name="Text 6"/>
          <p:cNvSpPr/>
          <p:nvPr/>
        </p:nvSpPr>
        <p:spPr>
          <a:xfrm>
            <a:off x="707710" y="3403898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Focus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7710" y="3827661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Transforming raw supermarket transaction data into actionable business intelligence through systematic analysis, visualization, and interactive dashboarding.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340389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Core Deliverables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3827661"/>
            <a:ext cx="523266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Cleaned &amp; structured dataset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Exploratory Data Analysis (EDA)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visualizations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Interactive Power BI Dashboard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insights &amp;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380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4B8A6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Overview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338586"/>
            <a:ext cx="5696204" cy="2494955"/>
          </a:xfrm>
          <a:prstGeom prst="roundRect">
            <a:avLst>
              <a:gd name="adj" fmla="val 994"/>
            </a:avLst>
          </a:prstGeom>
          <a:solidFill>
            <a:srgbClr val="E6FFFB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487414"/>
            <a:ext cx="536561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project analyzes supermarket transaction data to understand sales performance, customer behavior, product category performance, and payment preferences — delivering a complete end-to-end analytics workflow.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10264" y="2338586"/>
            <a:ext cx="5245266" cy="2494955"/>
          </a:xfrm>
          <a:prstGeom prst="roundRect">
            <a:avLst>
              <a:gd name="adj" fmla="val 994"/>
            </a:avLst>
          </a:prstGeom>
          <a:solidFill>
            <a:srgbClr val="F0FD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5558" y="2524621"/>
            <a:ext cx="4914678" cy="21228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48349" y="4071781"/>
            <a:ext cx="729729" cy="13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Cleaning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48349" y="4242496"/>
            <a:ext cx="729729" cy="212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Remove errors and standardize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9622105" y="4178109"/>
            <a:ext cx="729729" cy="13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Visualization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622105" y="4348824"/>
            <a:ext cx="729729" cy="106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clear charts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6813796" y="2716177"/>
            <a:ext cx="729729" cy="13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13796" y="2886892"/>
            <a:ext cx="729729" cy="318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Collect supermarket transactions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0528822" y="2716177"/>
            <a:ext cx="729729" cy="13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528822" y="2886892"/>
            <a:ext cx="729729" cy="212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Build interactive dashboard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8696856" y="2716177"/>
            <a:ext cx="729729" cy="132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EDA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696856" y="2886892"/>
            <a:ext cx="729729" cy="212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Explore trends and patterns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661475" y="501957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stage builds on the previous, ensuring data quality and analytical rigor before drawing conclusions or making business recommendations.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354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Statement &amp; Objectives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60274" y="1195784"/>
            <a:ext cx="5465328" cy="5084862"/>
          </a:xfrm>
          <a:prstGeom prst="roundRect">
            <a:avLst>
              <a:gd name="adj" fmla="val 415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00765" y="1315244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00765" y="1654274"/>
            <a:ext cx="5184348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Raw supermarket transaction data is difficult to interpret directly. It does not clearly reveal high-performing product categories, customer purchasing patterns, payment preferences, or meaningful sales trends without structured analysis.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73643" y="1315244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Objectives</a:t>
            </a:r>
            <a:endParaRPr lang="en-US" sz="13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6327" y="1673423"/>
            <a:ext cx="210835" cy="210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30435" y="1669157"/>
            <a:ext cx="480613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Analyze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730435" y="2008188"/>
            <a:ext cx="480613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Supermarket sales data systematically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6327" y="2459434"/>
            <a:ext cx="210835" cy="2108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30435" y="2455168"/>
            <a:ext cx="480613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Clean &amp; Prepare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730435" y="2794198"/>
            <a:ext cx="480613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Dataset for reliable analysis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6327" y="3245445"/>
            <a:ext cx="210835" cy="210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30435" y="3241179"/>
            <a:ext cx="480613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Perform EDA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730435" y="3580209"/>
            <a:ext cx="480613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Using Python (Pandas, Matplotlib, Seaborn)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26327" y="4031456"/>
            <a:ext cx="210835" cy="2108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30435" y="4027190"/>
            <a:ext cx="480613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Visualize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730435" y="4366220"/>
            <a:ext cx="480613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meaningful data visualizations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26327" y="4817467"/>
            <a:ext cx="210835" cy="2108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30435" y="4813201"/>
            <a:ext cx="480613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6730435" y="5152231"/>
            <a:ext cx="480613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Develop an interactive Power BI dashboard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26327" y="5603478"/>
            <a:ext cx="210835" cy="2108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730435" y="5599212"/>
            <a:ext cx="480613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Recommend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6730435" y="5938242"/>
            <a:ext cx="480613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Provide data-driven business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7436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 Description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54321" y="1423491"/>
            <a:ext cx="3782323" cy="4677073"/>
          </a:xfrm>
          <a:prstGeom prst="roundRect">
            <a:avLst>
              <a:gd name="adj" fmla="val 590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03146" y="1557437"/>
            <a:ext cx="348467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 Summary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77369" y="2015034"/>
            <a:ext cx="3136127" cy="49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2563EB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150</a:t>
            </a:r>
            <a:endParaRPr lang="en-US" sz="3850" dirty="0"/>
          </a:p>
        </p:txBody>
      </p:sp>
      <p:sp>
        <p:nvSpPr>
          <p:cNvPr id="6" name="Text 4"/>
          <p:cNvSpPr/>
          <p:nvPr/>
        </p:nvSpPr>
        <p:spPr>
          <a:xfrm>
            <a:off x="703146" y="2681089"/>
            <a:ext cx="348467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Records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03146" y="3047504"/>
            <a:ext cx="348467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Transaction rows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7369" y="3616027"/>
            <a:ext cx="3136127" cy="49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14B8A6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9</a:t>
            </a:r>
            <a:endParaRPr lang="en-US" sz="3850" dirty="0"/>
          </a:p>
        </p:txBody>
      </p:sp>
      <p:sp>
        <p:nvSpPr>
          <p:cNvPr id="9" name="Text 7"/>
          <p:cNvSpPr/>
          <p:nvPr/>
        </p:nvSpPr>
        <p:spPr>
          <a:xfrm>
            <a:off x="703146" y="4282083"/>
            <a:ext cx="348467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Columns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03146" y="4648498"/>
            <a:ext cx="348467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Feature attributes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3146" y="5025430"/>
            <a:ext cx="348467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Transaction-level supermarket sales information covering customer, product, and payment data.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98972" y="1557437"/>
            <a:ext cx="693749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Column Details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98972" y="1940620"/>
          <a:ext cx="9143771" cy="914400"/>
        </p:xfrm>
        <a:graphic>
          <a:graphicData uri="http://schemas.openxmlformats.org/drawingml/2006/table">
            <a:tbl>
              <a:tblPr/>
              <a:tblGrid>
                <a:gridCol w="2081250"/>
                <a:gridCol w="4856249"/>
              </a:tblGrid>
              <a:tr h="3996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Column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Description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Invoice ID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Unique transaction identifier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Date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Date of transaction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Customer Type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Member or Visitor classification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Gender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Customer gender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Product Category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Category of purchased product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Unit Price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Price per unit (₹)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Quantity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Number of units purchased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Total Sales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Total transaction value (₹)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996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Payment Method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Cash, Card, or Digital payment</a:t>
                      </a:r>
                      <a:endParaRPr lang="en-US" sz="11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1551"/>
            <a:ext cx="10868745" cy="356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Cleaning &amp; Preparation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1054001"/>
            <a:ext cx="529537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Cleaning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320403"/>
            <a:ext cx="227900" cy="1423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61475" y="1501279"/>
            <a:ext cx="5295371" cy="127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583630"/>
            <a:ext cx="529537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Import 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1475" y="1840210"/>
            <a:ext cx="529537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Loaded dataset using Pandas library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61475" y="2158107"/>
            <a:ext cx="227900" cy="1423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61475" y="2338983"/>
            <a:ext cx="5295371" cy="127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2421334"/>
            <a:ext cx="529537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Inspect Structure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1475" y="2677914"/>
            <a:ext cx="529537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Reviewed rows, columns, and data types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61475" y="2995811"/>
            <a:ext cx="227900" cy="1423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1475" y="3176687"/>
            <a:ext cx="5295371" cy="127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259038"/>
            <a:ext cx="529537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Format Dates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475" y="3515618"/>
            <a:ext cx="529537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Converted Date column to datetime format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61475" y="3833515"/>
            <a:ext cx="227900" cy="1423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1475" y="4014391"/>
            <a:ext cx="5295371" cy="127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096742"/>
            <a:ext cx="529537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Handle Missing Values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1475" y="4353322"/>
            <a:ext cx="529537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Replaced missing categorical values with "Unknown"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1475" y="4671219"/>
            <a:ext cx="227900" cy="1423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1475" y="4852095"/>
            <a:ext cx="5295371" cy="127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4934446"/>
            <a:ext cx="529537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Validate Numerics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1475" y="5191026"/>
            <a:ext cx="529537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Checked Unit Price, Quantity, and Total Sales for invalid values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61475" y="5508923"/>
            <a:ext cx="227900" cy="1423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06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1475" y="5689798"/>
            <a:ext cx="5295371" cy="127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61475" y="5772150"/>
            <a:ext cx="529537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Remove Duplicates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1475" y="6028730"/>
            <a:ext cx="5295371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Identified and removed duplicate records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41199" y="1054001"/>
            <a:ext cx="5295371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Cleaning Results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41199" y="1320403"/>
            <a:ext cx="2608396" cy="792361"/>
          </a:xfrm>
          <a:prstGeom prst="roundRect">
            <a:avLst>
              <a:gd name="adj" fmla="val 2157"/>
            </a:avLst>
          </a:prstGeom>
          <a:solidFill>
            <a:srgbClr val="14B8A6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100" y="1434306"/>
            <a:ext cx="2380595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Final Records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100" y="1690886"/>
            <a:ext cx="2380595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150 records</a:t>
            </a:r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× 9 columns retained after cleaning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928075" y="1320403"/>
            <a:ext cx="2608495" cy="792361"/>
          </a:xfrm>
          <a:prstGeom prst="roundRect">
            <a:avLst>
              <a:gd name="adj" fmla="val 2157"/>
            </a:avLst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9041975" y="1434306"/>
            <a:ext cx="2380694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041975" y="1690886"/>
            <a:ext cx="2380694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 missing values</a:t>
            </a:r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remaining after imputation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41199" y="2191246"/>
            <a:ext cx="2608396" cy="792361"/>
          </a:xfrm>
          <a:prstGeom prst="roundRect">
            <a:avLst>
              <a:gd name="adj" fmla="val 2157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100" y="2305149"/>
            <a:ext cx="2380595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Duplicate Records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100" y="2561729"/>
            <a:ext cx="2380595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 duplicates</a:t>
            </a:r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found after deduplication check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928075" y="2191246"/>
            <a:ext cx="2608495" cy="792361"/>
          </a:xfrm>
          <a:prstGeom prst="roundRect">
            <a:avLst>
              <a:gd name="adj" fmla="val 2157"/>
            </a:avLst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9041975" y="2305149"/>
            <a:ext cx="2380694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Output File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041975" y="2561729"/>
            <a:ext cx="2380694" cy="307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cleaned_supermarket_sales.csv</a:t>
            </a:r>
            <a:pPr algn="l" indent="0" marL="0">
              <a:lnSpc>
                <a:spcPct val="11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exported for analysis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1863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Exploratory Data Analysis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026120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Analysis Performed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98079"/>
            <a:ext cx="2606114" cy="8335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0659" y="1426468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Descriptive Statistics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0659" y="1688306"/>
            <a:ext cx="229854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Mean, median, min, max for all numeric columns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8549" y="1298079"/>
            <a:ext cx="2606114" cy="8335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27734" y="1426468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Structure Inspection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527734" y="1688306"/>
            <a:ext cx="229854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Dataset shape, data types, and column overview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212578"/>
            <a:ext cx="2606114" cy="8335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0659" y="2340967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Correlation Analysis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40659" y="2602805"/>
            <a:ext cx="2298543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Relationships between numeric variables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48549" y="2212578"/>
            <a:ext cx="2606114" cy="83353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27734" y="2340967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Category Analysis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527734" y="2602805"/>
            <a:ext cx="229854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 category, customer type, and payment method breakdowns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127077"/>
            <a:ext cx="2606114" cy="83353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0659" y="3255466"/>
            <a:ext cx="229854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Outlier Detection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840659" y="3517305"/>
            <a:ext cx="2298543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IQR method applied to Unit Price, Quantity, and Total Sales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6243382" y="1026120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Statistical Results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7037311" y="1355923"/>
            <a:ext cx="370523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₹278.50</a:t>
            </a:r>
            <a:endParaRPr lang="en-US" sz="3000" dirty="0"/>
          </a:p>
        </p:txBody>
      </p:sp>
      <p:sp>
        <p:nvSpPr>
          <p:cNvPr id="21" name="Text 14"/>
          <p:cNvSpPr/>
          <p:nvPr/>
        </p:nvSpPr>
        <p:spPr>
          <a:xfrm>
            <a:off x="6243382" y="1856581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Avg. Total Sales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243382" y="2118420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 transaction average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7037311" y="2495748"/>
            <a:ext cx="370523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₹499.62</a:t>
            </a:r>
            <a:endParaRPr lang="en-US" sz="3000" dirty="0"/>
          </a:p>
        </p:txBody>
      </p:sp>
      <p:sp>
        <p:nvSpPr>
          <p:cNvPr id="24" name="Text 17"/>
          <p:cNvSpPr/>
          <p:nvPr/>
        </p:nvSpPr>
        <p:spPr>
          <a:xfrm>
            <a:off x="6243382" y="2996406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Max Total Sales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6243382" y="3258245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Highest single transaction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7037311" y="3635573"/>
            <a:ext cx="370523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5.57</a:t>
            </a:r>
            <a:endParaRPr lang="en-US" sz="3000" dirty="0"/>
          </a:p>
        </p:txBody>
      </p:sp>
      <p:sp>
        <p:nvSpPr>
          <p:cNvPr id="27" name="Text 20"/>
          <p:cNvSpPr/>
          <p:nvPr/>
        </p:nvSpPr>
        <p:spPr>
          <a:xfrm>
            <a:off x="6243382" y="4136231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Avg. Quantity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243382" y="4398070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Units per transaction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7037311" y="4775398"/>
            <a:ext cx="370523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0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₹28.76</a:t>
            </a:r>
            <a:endParaRPr lang="en-US" sz="3000" dirty="0"/>
          </a:p>
        </p:txBody>
      </p:sp>
      <p:sp>
        <p:nvSpPr>
          <p:cNvPr id="30" name="Text 23"/>
          <p:cNvSpPr/>
          <p:nvPr/>
        </p:nvSpPr>
        <p:spPr>
          <a:xfrm>
            <a:off x="6243382" y="5276056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Avg. Unit Price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243382" y="5537895"/>
            <a:ext cx="5293188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 unit average price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6243382" y="5786438"/>
            <a:ext cx="5293188" cy="518517"/>
          </a:xfrm>
          <a:prstGeom prst="roundRect">
            <a:avLst>
              <a:gd name="adj" fmla="val 3349"/>
            </a:avLst>
          </a:prstGeom>
          <a:solidFill>
            <a:srgbClr val="B6FCB8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9068" y="5902920"/>
            <a:ext cx="144657" cy="11568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19412" y="5888236"/>
            <a:ext cx="4801472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significant outliers were found in Unit Price, Quantity, or Total Sales — confirming high data quality after cleaning.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527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4B8A6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Visualizations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2269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Five key visualizations created from the cleaned dataset: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673350"/>
            <a:ext cx="3512653" cy="952897"/>
          </a:xfrm>
          <a:prstGeom prst="roundRect">
            <a:avLst>
              <a:gd name="adj" fmla="val 2603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6769" y="2838648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1. Total Sales by Product Category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769" y="3196332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673350"/>
            <a:ext cx="3512752" cy="952897"/>
          </a:xfrm>
          <a:prstGeom prst="roundRect">
            <a:avLst>
              <a:gd name="adj" fmla="val 2603"/>
            </a:avLst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4504716" y="2838648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2. Daily Sales Trend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4716" y="3196332"/>
            <a:ext cx="31821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673350"/>
            <a:ext cx="3512653" cy="952897"/>
          </a:xfrm>
          <a:prstGeom prst="roundRect">
            <a:avLst>
              <a:gd name="adj" fmla="val 2603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182762" y="2838648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3. Payment Method Distribution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2762" y="3196332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Pie Chart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3791545"/>
            <a:ext cx="5351626" cy="952897"/>
          </a:xfrm>
          <a:prstGeom prst="roundRect">
            <a:avLst>
              <a:gd name="adj" fmla="val 2603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26769" y="3956844"/>
            <a:ext cx="5021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4. Total Sales by Customer 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6769" y="4314527"/>
            <a:ext cx="5021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395" y="3791545"/>
            <a:ext cx="5351725" cy="952897"/>
          </a:xfrm>
          <a:prstGeom prst="roundRect">
            <a:avLst>
              <a:gd name="adj" fmla="val 2603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6343690" y="3956844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5. Total Sales by Gender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3690" y="4314527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1475" y="497175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56682" y="521811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[PLACEHOLDER FOR VISUALIZATION SCREENSHOTS]</a:t>
            </a:r>
            <a:pPr algn="ctr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Insert your actual Python visualization screenshots here (Matplotlib/Seaborn charts)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85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4B8A6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4599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project successfully demonstrated an end-to-end Data Analytics workflow, transforming raw supermarket transaction data into meaningful visualizations, an interactive business intelligence dashboard, actionable insights, and data-driven recommendations.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823270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Tools &amp; Technologies Used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3329781"/>
            <a:ext cx="3512653" cy="1878905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826769" y="3495080"/>
            <a:ext cx="496081" cy="49609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192" y="3631406"/>
            <a:ext cx="223237" cy="2232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6769" y="4156472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Python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6769" y="4514155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cleaning, EDA, and visualization (Pandas, Matplotlib, Seaborn)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39422" y="3329781"/>
            <a:ext cx="3512752" cy="1878905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4504716" y="3495080"/>
            <a:ext cx="496081" cy="496094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1139" y="3631406"/>
            <a:ext cx="223237" cy="2232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04716" y="4156472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04716" y="4514155"/>
            <a:ext cx="31821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Interactive dashboard development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017468" y="3329781"/>
            <a:ext cx="3512653" cy="1878905"/>
          </a:xfrm>
          <a:prstGeom prst="roundRect">
            <a:avLst>
              <a:gd name="adj" fmla="val 1320"/>
            </a:avLst>
          </a:prstGeom>
          <a:solidFill>
            <a:srgbClr val="F2EEEE"/>
          </a:solidFill>
          <a:ln/>
        </p:spPr>
      </p:sp>
      <p:sp>
        <p:nvSpPr>
          <p:cNvPr id="16" name="Shape 12"/>
          <p:cNvSpPr/>
          <p:nvPr/>
        </p:nvSpPr>
        <p:spPr>
          <a:xfrm>
            <a:off x="8182762" y="3495080"/>
            <a:ext cx="496081" cy="49609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9185" y="3631406"/>
            <a:ext cx="223237" cy="2232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82762" y="4156472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Git &amp; GitHub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182762" y="4514155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Version control and project documentation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56682" y="5394722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Data-driven decision making for business success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5198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14B8A6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Insights &amp; Business Recommendations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548269" y="1819970"/>
            <a:ext cx="5469098" cy="3932734"/>
          </a:xfrm>
          <a:prstGeom prst="roundRect">
            <a:avLst>
              <a:gd name="adj" fmla="val 599"/>
            </a:avLst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705328" y="1969195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5328" y="2382639"/>
            <a:ext cx="2502830" cy="1049635"/>
          </a:xfrm>
          <a:prstGeom prst="roundRect">
            <a:avLst>
              <a:gd name="adj" fmla="val 2245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2388" y="2539702"/>
            <a:ext cx="2188711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Vegetables generated the highest category sales: ₹8,918.92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7379" y="2382639"/>
            <a:ext cx="2502929" cy="1049635"/>
          </a:xfrm>
          <a:prstGeom prst="roundRect">
            <a:avLst>
              <a:gd name="adj" fmla="val 2245"/>
            </a:avLst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3514439" y="2539702"/>
            <a:ext cx="218881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Beverages generated the lowest category sales: ₹4,926.37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5328" y="3581499"/>
            <a:ext cx="2502830" cy="1049635"/>
          </a:xfrm>
          <a:prstGeom prst="roundRect">
            <a:avLst>
              <a:gd name="adj" fmla="val 2245"/>
            </a:avLst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862388" y="3738562"/>
            <a:ext cx="2188711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Members generated higher total sales (₹20,421.34) vs. Visitors (₹19,587.90)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57379" y="3581499"/>
            <a:ext cx="2502929" cy="1049635"/>
          </a:xfrm>
          <a:prstGeom prst="roundRect">
            <a:avLst>
              <a:gd name="adj" fmla="val 2245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3514439" y="3738562"/>
            <a:ext cx="218881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Cash was the highest-contributing payment method: ₹14,797.44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5328" y="4780359"/>
            <a:ext cx="5154980" cy="804466"/>
          </a:xfrm>
          <a:prstGeom prst="roundRect">
            <a:avLst>
              <a:gd name="adj" fmla="val 2930"/>
            </a:avLst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62388" y="4937423"/>
            <a:ext cx="484086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Female customers generated higher sales (₹20,041.27) vs. Male customers (₹18,126.11)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0677" y="1819970"/>
            <a:ext cx="5469098" cy="3932734"/>
          </a:xfrm>
          <a:prstGeom prst="roundRect">
            <a:avLst>
              <a:gd name="adj" fmla="val 599"/>
            </a:avLst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337737" y="1969195"/>
            <a:ext cx="515498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37737" y="2382639"/>
            <a:ext cx="2502830" cy="1294805"/>
          </a:xfrm>
          <a:prstGeom prst="roundRect">
            <a:avLst>
              <a:gd name="adj" fmla="val 1820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4796" y="2539702"/>
            <a:ext cx="2188711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Maintain sufficient stock and promotions for high-performing categories (Vegetables, Dairy)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89788" y="2382639"/>
            <a:ext cx="2502929" cy="1294805"/>
          </a:xfrm>
          <a:prstGeom prst="roundRect">
            <a:avLst>
              <a:gd name="adj" fmla="val 182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6847" y="2539702"/>
            <a:ext cx="2188810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discounts and combo offers to improve lower-performing categories (Beverages, Bakery)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37737" y="3826669"/>
            <a:ext cx="2502830" cy="1294805"/>
          </a:xfrm>
          <a:prstGeom prst="roundRect">
            <a:avLst>
              <a:gd name="adj" fmla="val 1820"/>
            </a:avLst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4796" y="3983732"/>
            <a:ext cx="2188711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Strengthen membership programs to encourage repeat purchases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89788" y="3826669"/>
            <a:ext cx="2502929" cy="1294805"/>
          </a:xfrm>
          <a:prstGeom prst="roundRect">
            <a:avLst>
              <a:gd name="adj" fmla="val 1820"/>
            </a:avLst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9146847" y="3983732"/>
            <a:ext cx="2188810" cy="9806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Continue supporting popular payment methods while promoting digital payment options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3404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4B8A6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 Dashboard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456432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interactive Power BI dashboard was developed using the cleaned supermarket sales dataset.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54321" y="1833364"/>
            <a:ext cx="5467114" cy="2138660"/>
          </a:xfrm>
          <a:prstGeom prst="roundRect">
            <a:avLst>
              <a:gd name="adj" fmla="val 1044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703146" y="1967309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KPI Cards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03146" y="2350492"/>
            <a:ext cx="2517712" cy="530126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851970" y="2499320"/>
            <a:ext cx="222006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Sales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354800" y="2350492"/>
            <a:ext cx="2517811" cy="530126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3503624" y="2499320"/>
            <a:ext cx="2220162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Quantity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03146" y="3014563"/>
            <a:ext cx="5169465" cy="530126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51970" y="3163391"/>
            <a:ext cx="4871816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Orders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76610" y="1833364"/>
            <a:ext cx="5467114" cy="2138660"/>
          </a:xfrm>
          <a:prstGeom prst="roundRect">
            <a:avLst>
              <a:gd name="adj" fmla="val 1044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325434" y="1967309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Dashboard Visuals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25434" y="2333724"/>
            <a:ext cx="5169465" cy="159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Sales by Product Category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Daily Sales Trend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Payment Method Distribution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Type Distribution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Sales by Customer Type</a:t>
            </a:r>
            <a:endParaRPr lang="en-US" sz="1150" dirty="0"/>
          </a:p>
          <a:p>
            <a:pPr algn="l" marL="233680" indent="-233680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Sales by Gender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1475" y="4549874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Interactive Slicers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983262"/>
            <a:ext cx="10868745" cy="530126"/>
          </a:xfrm>
          <a:prstGeom prst="roundRect">
            <a:avLst>
              <a:gd name="adj" fmla="val 4212"/>
            </a:avLst>
          </a:prstGeom>
          <a:solidFill>
            <a:srgbClr val="F2EEEE"/>
          </a:solidFill>
          <a:ln/>
        </p:spPr>
      </p:sp>
      <p:sp>
        <p:nvSpPr>
          <p:cNvPr id="17" name="Shape 15"/>
          <p:cNvSpPr/>
          <p:nvPr/>
        </p:nvSpPr>
        <p:spPr>
          <a:xfrm>
            <a:off x="661475" y="4983262"/>
            <a:ext cx="3622882" cy="530126"/>
          </a:xfrm>
          <a:custGeom>
            <a:avLst/>
            <a:gdLst/>
            <a:ahLst/>
            <a:cxnLst/>
            <a:rect l="l" t="t" r="r" b="b"/>
            <a:pathLst>
              <a:path w="3622882" h="530126">
                <a:moveTo>
                  <a:pt x="18606" y="0"/>
                </a:moveTo>
                <a:lnTo>
                  <a:pt x="3622882" y="0"/>
                </a:lnTo>
                <a:lnTo>
                  <a:pt x="3622882" y="530126"/>
                </a:lnTo>
                <a:lnTo>
                  <a:pt x="18606" y="530126"/>
                </a:lnTo>
                <a:arcTo hR="18607" wR="18606" stAng="5400000" swAng="5400000"/>
                <a:lnTo>
                  <a:pt x="0" y="18607"/>
                </a:lnTo>
                <a:arcTo hR="18607" wR="18606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810299" y="5132090"/>
            <a:ext cx="332523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Type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284357" y="4983262"/>
            <a:ext cx="3622882" cy="530126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20" name="Shape 18"/>
          <p:cNvSpPr/>
          <p:nvPr/>
        </p:nvSpPr>
        <p:spPr>
          <a:xfrm>
            <a:off x="4284357" y="4983262"/>
            <a:ext cx="19050" cy="53012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1" name="Text 19"/>
          <p:cNvSpPr/>
          <p:nvPr/>
        </p:nvSpPr>
        <p:spPr>
          <a:xfrm>
            <a:off x="4433181" y="5132090"/>
            <a:ext cx="332523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Gender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907239" y="4983262"/>
            <a:ext cx="3622882" cy="530126"/>
          </a:xfrm>
          <a:custGeom>
            <a:avLst/>
            <a:gdLst/>
            <a:ahLst/>
            <a:cxnLst/>
            <a:rect l="l" t="t" r="r" b="b"/>
            <a:pathLst>
              <a:path w="3622882" h="530126">
                <a:moveTo>
                  <a:pt x="0" y="0"/>
                </a:moveTo>
                <a:lnTo>
                  <a:pt x="3604276" y="0"/>
                </a:lnTo>
                <a:arcTo hR="18607" wR="18606" stAng="16200000" swAng="5400000"/>
                <a:lnTo>
                  <a:pt x="3622882" y="511519"/>
                </a:lnTo>
                <a:arcTo hR="18607" wR="18606" stAng="0" swAng="5400000"/>
                <a:lnTo>
                  <a:pt x="0" y="530126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23" name="Shape 21"/>
          <p:cNvSpPr/>
          <p:nvPr/>
        </p:nvSpPr>
        <p:spPr>
          <a:xfrm>
            <a:off x="7907239" y="4983262"/>
            <a:ext cx="19050" cy="530126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4" name="Text 22"/>
          <p:cNvSpPr/>
          <p:nvPr/>
        </p:nvSpPr>
        <p:spPr>
          <a:xfrm>
            <a:off x="8056063" y="5132090"/>
            <a:ext cx="332523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Product Category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61475" y="5701308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56682" y="5908278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[PLACEHOLDER FOR POWER BI DASHBOARD SCREENSHOT]</a:t>
            </a:r>
            <a:pPr algn="ctr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Insert your actual Power BI dashboard screenshot here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1287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Visualizations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84970"/>
            <a:ext cx="1086874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Five key visualizations were created from the cleaned dataset using Python (Matplotlib &amp; Seaborn) to communicate sales patterns across categories, time, payment methods, and customer segments.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36812"/>
            <a:ext cx="10868745" cy="744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9150" y="1892598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263222" y="1773535"/>
            <a:ext cx="1013027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Sales by Product Category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63222" y="2023070"/>
            <a:ext cx="1013027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Bar Chart — compares revenue contribution across all product categories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474020"/>
            <a:ext cx="10868745" cy="744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9150" y="2729805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263222" y="2610743"/>
            <a:ext cx="1013027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Daily Sales Trend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63222" y="2860278"/>
            <a:ext cx="1013027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Line Chart — tracks sales fluctuations over the analysis period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11227"/>
            <a:ext cx="10868745" cy="744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9150" y="3567013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263222" y="3447951"/>
            <a:ext cx="1013027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Payment Method Distribution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263222" y="3697486"/>
            <a:ext cx="1013027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Pie Chart — shows share of Cash, Card, and Digital payments</a:t>
            </a:r>
            <a:endParaRPr lang="en-US" sz="9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148435"/>
            <a:ext cx="10868745" cy="7442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9150" y="4404221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1263222" y="4285159"/>
            <a:ext cx="1013027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Sales by Customer Type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263222" y="4534694"/>
            <a:ext cx="1013027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Bar Chart — compares Member vs. Visitor total sales</a:t>
            </a:r>
            <a:endParaRPr lang="en-US" sz="9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985643"/>
            <a:ext cx="10868745" cy="7442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9150" y="5241429"/>
            <a:ext cx="186031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1263222" y="5122366"/>
            <a:ext cx="1013027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Sales by Gender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263222" y="5371902"/>
            <a:ext cx="1013027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Bar Chart — compares Female vs. Male customer total sales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61475" y="5834459"/>
            <a:ext cx="10868745" cy="412155"/>
          </a:xfrm>
          <a:prstGeom prst="roundRect">
            <a:avLst>
              <a:gd name="adj" fmla="val 4514"/>
            </a:avLst>
          </a:prstGeom>
          <a:solidFill>
            <a:srgbClr val="B6D6FC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95" y="5970488"/>
            <a:ext cx="154976" cy="12402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64491" y="5958384"/>
            <a:ext cx="1095129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Insert your actual Python visualization screenshots (Matplotlib/Seaborn charts) in place of this placeholder section.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5202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 Dashboard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348978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interactive Power BI dashboard was developed using the cleaned supermarket sales dataset, enabling dynamic filtering and real-time exploration of key business metrics.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678484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KPI Cards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1950442"/>
            <a:ext cx="2606114" cy="650677"/>
          </a:xfrm>
          <a:prstGeom prst="roundRect">
            <a:avLst>
              <a:gd name="adj" fmla="val 2669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777161" y="2066131"/>
            <a:ext cx="2374741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161" y="2327970"/>
            <a:ext cx="237474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Aggregate revenue across all transactions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48549" y="1950442"/>
            <a:ext cx="2606114" cy="650677"/>
          </a:xfrm>
          <a:prstGeom prst="roundRect">
            <a:avLst>
              <a:gd name="adj" fmla="val 2669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3464235" y="2066131"/>
            <a:ext cx="2374741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Quantity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64235" y="2327970"/>
            <a:ext cx="237474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units sold across all categories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1475" y="2682081"/>
            <a:ext cx="5293188" cy="650677"/>
          </a:xfrm>
          <a:prstGeom prst="roundRect">
            <a:avLst>
              <a:gd name="adj" fmla="val 2669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161" y="2797770"/>
            <a:ext cx="5061816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161" y="3059609"/>
            <a:ext cx="506181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Count of all transaction records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1475" y="3423841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Interactive Slicers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1475" y="3695799"/>
            <a:ext cx="463042" cy="694630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1205478" y="3811488"/>
            <a:ext cx="474918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Type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1475" y="4471392"/>
            <a:ext cx="463042" cy="694630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1205478" y="4587081"/>
            <a:ext cx="474918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Gender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1475" y="5246985"/>
            <a:ext cx="463042" cy="694630"/>
          </a:xfrm>
          <a:prstGeom prst="roundRect">
            <a:avLst>
              <a:gd name="adj" fmla="val 50000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1205478" y="5362674"/>
            <a:ext cx="4749185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Product Category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43382" y="1678484"/>
            <a:ext cx="529318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Dashboard Visuals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30682" y="1937742"/>
            <a:ext cx="5305888" cy="44469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384468" y="1950442"/>
            <a:ext cx="515210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Sales by Product Category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84468" y="2212280"/>
            <a:ext cx="515210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Bar visual comparing category-level revenue</a:t>
            </a:r>
            <a:endParaRPr lang="en-US" sz="9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0682" y="2519065"/>
            <a:ext cx="5305888" cy="44469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384468" y="2531765"/>
            <a:ext cx="515210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Daily Sales Trend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384468" y="2793603"/>
            <a:ext cx="515210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Line visual tracking sales over time</a:t>
            </a:r>
            <a:endParaRPr lang="en-US" sz="9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0682" y="3100388"/>
            <a:ext cx="5305888" cy="44469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84468" y="3113088"/>
            <a:ext cx="515210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Payment Method Distribution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384468" y="3374926"/>
            <a:ext cx="515210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Pie visual showing payment share breakdown</a:t>
            </a:r>
            <a:endParaRPr lang="en-US" sz="9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0682" y="3681710"/>
            <a:ext cx="5305888" cy="44469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384468" y="3694410"/>
            <a:ext cx="515210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Type Distribution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384468" y="3956248"/>
            <a:ext cx="515210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Visual comparing Member vs. Visitor counts</a:t>
            </a:r>
            <a:endParaRPr lang="en-US" sz="9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30682" y="4263033"/>
            <a:ext cx="5305888" cy="44469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384468" y="4275733"/>
            <a:ext cx="515210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Sales by Customer Type &amp; Gender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6384468" y="4537571"/>
            <a:ext cx="5152102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Bar visuals for segment-level sales comparison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6243382" y="4786114"/>
            <a:ext cx="5293188" cy="361057"/>
          </a:xfrm>
          <a:prstGeom prst="roundRect">
            <a:avLst>
              <a:gd name="adj" fmla="val 4810"/>
            </a:avLst>
          </a:prstGeom>
          <a:solidFill>
            <a:srgbClr val="B6D6FC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9068" y="4902597"/>
            <a:ext cx="144657" cy="115689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19412" y="4887913"/>
            <a:ext cx="541105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Insert your actual Power BI dashboard screenshot here in place of this placeholder.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0602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Insights &amp; Business Recommendations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588492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Insights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42405"/>
          <a:ext cx="9143771" cy="914400"/>
        </p:xfrm>
        <a:graphic>
          <a:graphicData uri="http://schemas.openxmlformats.org/drawingml/2006/table">
            <a:tbl>
              <a:tblPr/>
              <a:tblGrid>
                <a:gridCol w="2105171"/>
                <a:gridCol w="3157756"/>
              </a:tblGrid>
              <a:tr h="367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Dimension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Finding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Top Category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Vegetables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— ₹8,918.92 in total sales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Lowest Category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Beverages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— ₹4,926.37 in total sales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Customer Type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Members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₹20,421.34 vs. Visitors ₹19,587.90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Payment Method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Cash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leads at ₹14,797.44 total contribution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Gender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Female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 ₹20,041.27 vs. Male ₹18,126.11</a:t>
                      </a:r>
                      <a:endParaRPr lang="en-US" sz="11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72442" y="1469033"/>
            <a:ext cx="5465328" cy="4538365"/>
          </a:xfrm>
          <a:prstGeom prst="roundRect">
            <a:avLst>
              <a:gd name="adj" fmla="val 465"/>
            </a:avLst>
          </a:prstGeom>
          <a:solidFill>
            <a:srgbClr val="003D7A"/>
          </a:solidFill>
          <a:ln/>
        </p:spPr>
      </p:sp>
      <p:sp>
        <p:nvSpPr>
          <p:cNvPr id="6" name="Text 3"/>
          <p:cNvSpPr/>
          <p:nvPr/>
        </p:nvSpPr>
        <p:spPr>
          <a:xfrm>
            <a:off x="6312933" y="1588492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Recommendations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48691" y="1990725"/>
            <a:ext cx="474859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Stock &amp; Promotions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748691" y="2329755"/>
            <a:ext cx="474859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Maintain sufficient inventory and run targeted promotions for high-performing categories — Vegetables and Dairy.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48691" y="3033117"/>
            <a:ext cx="474859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Boost Underperformers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48691" y="3372148"/>
            <a:ext cx="474859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Apply discounts and combo offers to improve sales in lower-performing categories — Beverages and Bakery.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48691" y="4075509"/>
            <a:ext cx="474859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Membership Programs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48691" y="4414540"/>
            <a:ext cx="474859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Strengthen loyalty programs to encourage repeat purchases and convert Visitors into Members.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48691" y="5117902"/>
            <a:ext cx="4748590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Payment Strategy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748691" y="5456932"/>
            <a:ext cx="474859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Continue supporting Cash while actively promoting digital payment options to modernize the payment mix.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6052"/>
            <a:ext cx="1086874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975618"/>
            <a:ext cx="10868745" cy="299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project successfully demonstrated a complete end-to-end Data Analytics workflow — transforming raw supermarket transaction data into meaningful visualizations, an interactive business intelligence dashboard, actionable insights, and data-driven recommendations.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206" y="1359396"/>
            <a:ext cx="8623283" cy="37186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64495" y="4372826"/>
            <a:ext cx="1956315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364495" y="3512026"/>
            <a:ext cx="1956315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EDA &amp; Visuals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364495" y="2659920"/>
            <a:ext cx="1956315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Cleaned Dataset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364495" y="1799120"/>
            <a:ext cx="1956315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Raw Data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1475" y="5191026"/>
            <a:ext cx="1086874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Tools &amp; Technologies Used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61475" y="5478462"/>
            <a:ext cx="10868745" cy="669230"/>
          </a:xfrm>
          <a:prstGeom prst="roundRect">
            <a:avLst>
              <a:gd name="adj" fmla="val 2502"/>
            </a:avLst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661475" y="5478462"/>
            <a:ext cx="3622882" cy="669230"/>
          </a:xfrm>
          <a:custGeom>
            <a:avLst/>
            <a:gdLst/>
            <a:ahLst/>
            <a:cxnLst/>
            <a:rect l="l" t="t" r="r" b="b"/>
            <a:pathLst>
              <a:path w="3622882" h="669230">
                <a:moveTo>
                  <a:pt x="13955" y="0"/>
                </a:moveTo>
                <a:lnTo>
                  <a:pt x="3622882" y="0"/>
                </a:lnTo>
                <a:lnTo>
                  <a:pt x="3622882" y="669230"/>
                </a:lnTo>
                <a:lnTo>
                  <a:pt x="13955" y="669230"/>
                </a:lnTo>
                <a:arcTo hR="13955" wR="13955" stAng="5400000" swAng="5400000"/>
                <a:lnTo>
                  <a:pt x="0" y="13955"/>
                </a:lnTo>
                <a:arcTo hR="13955" wR="13955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736780" y="5553770"/>
            <a:ext cx="3359264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Python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6780" y="5773341"/>
            <a:ext cx="3359264" cy="299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cleaning, EDA, and visualization using Pandas, Matplotlib, and Seaborn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284357" y="5478462"/>
            <a:ext cx="3622882" cy="66923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4357" y="5478462"/>
            <a:ext cx="12700" cy="66923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6" name="Text 13"/>
          <p:cNvSpPr/>
          <p:nvPr/>
        </p:nvSpPr>
        <p:spPr>
          <a:xfrm>
            <a:off x="4472669" y="5553770"/>
            <a:ext cx="3246257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472669" y="5773341"/>
            <a:ext cx="3246257" cy="299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Interactive dashboard development with KPI cards, visuals, and slicers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907239" y="5478462"/>
            <a:ext cx="3622882" cy="669230"/>
          </a:xfrm>
          <a:custGeom>
            <a:avLst/>
            <a:gdLst/>
            <a:ahLst/>
            <a:cxnLst/>
            <a:rect l="l" t="t" r="r" b="b"/>
            <a:pathLst>
              <a:path w="3622882" h="669230">
                <a:moveTo>
                  <a:pt x="0" y="0"/>
                </a:moveTo>
                <a:lnTo>
                  <a:pt x="3608927" y="0"/>
                </a:lnTo>
                <a:arcTo hR="13955" wR="13955" stAng="16200000" swAng="5400000"/>
                <a:lnTo>
                  <a:pt x="3622882" y="655275"/>
                </a:lnTo>
                <a:arcTo hR="13955" wR="13955" stAng="0" swAng="5400000"/>
                <a:lnTo>
                  <a:pt x="0" y="669230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9" name="Shape 16"/>
          <p:cNvSpPr/>
          <p:nvPr/>
        </p:nvSpPr>
        <p:spPr>
          <a:xfrm>
            <a:off x="7907239" y="5478462"/>
            <a:ext cx="12700" cy="66923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0" name="Text 17"/>
          <p:cNvSpPr/>
          <p:nvPr/>
        </p:nvSpPr>
        <p:spPr>
          <a:xfrm>
            <a:off x="8095551" y="5553770"/>
            <a:ext cx="3359264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Git &amp; GitHub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095551" y="5773341"/>
            <a:ext cx="3359264" cy="299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Version control and project documentation throughout the workflow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56682" y="6232426"/>
            <a:ext cx="11478330" cy="149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0066C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Data-driven decision making for business success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44859" y="5673477"/>
            <a:ext cx="279095" cy="27910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4608" y="5743228"/>
            <a:ext cx="139498" cy="13950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7767741" y="5673477"/>
            <a:ext cx="279095" cy="27910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7490" y="5743228"/>
            <a:ext cx="139498" cy="1395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2026-09-11T15:18:24Z</dcterms:created>
  <dcterms:modified xsi:type="dcterms:W3CDTF">2026-09-11T15:18:24Z</dcterms:modified>
</cp:coreProperties>
</file>